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864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F3864"/>
                </a:solidFill>
                <a:latin typeface="Arial"/>
              </a:rPr>
              <a:t>Class Distribution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D2D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0CAF9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Rain</c:v>
                  </c:pt>
                  <c:pt idx="1">
                    <c:v>Sun</c:v>
                  </c:pt>
                  <c:pt idx="2">
                    <c:v>Fog</c:v>
                  </c:pt>
                  <c:pt idx="3">
                    <c:v>Drizzle</c:v>
                  </c:pt>
                  <c:pt idx="4">
                    <c:v>Snow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641</c:v>
                </c:pt>
                <c:pt idx="1">
                  <c:v>640</c:v>
                </c:pt>
                <c:pt idx="2">
                  <c:v>101</c:v>
                </c:pt>
                <c:pt idx="3">
                  <c:v>53</c:v>
                </c:pt>
                <c:pt idx="4">
                  <c:v>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D2D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2D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D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864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3864"/>
                </a:solidFill>
                <a:latin typeface="Arial"/>
              </a:rPr>
              <a:t>Monthly Temperature Trends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 Max (°C)</c:v>
                </c:pt>
              </c:strCache>
            </c:strRef>
          </c:tx>
          <c:spPr>
            <a:solidFill>
              <a:srgbClr val="E53E3E"/>
            </a:solidFill>
            <a:ln w="25400" cap="flat">
              <a:solidFill>
                <a:srgbClr val="E53E3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53E3E"/>
              </a:solidFill>
              <a:ln w="9525" cap="flat">
                <a:solidFill>
                  <a:srgbClr val="E53E3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8.2</c:v>
                </c:pt>
                <c:pt idx="1">
                  <c:v>10.1</c:v>
                </c:pt>
                <c:pt idx="2">
                  <c:v>12.5</c:v>
                </c:pt>
                <c:pt idx="3">
                  <c:v>15.3</c:v>
                </c:pt>
                <c:pt idx="4">
                  <c:v>19.2</c:v>
                </c:pt>
                <c:pt idx="5">
                  <c:v>22.1</c:v>
                </c:pt>
                <c:pt idx="6">
                  <c:v>25.8</c:v>
                </c:pt>
                <c:pt idx="7">
                  <c:v>26.1</c:v>
                </c:pt>
                <c:pt idx="8">
                  <c:v>21.3</c:v>
                </c:pt>
                <c:pt idx="9">
                  <c:v>15.7</c:v>
                </c:pt>
                <c:pt idx="10">
                  <c:v>10.4</c:v>
                </c:pt>
                <c:pt idx="11">
                  <c:v>8.1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Temp Min (°C)</c:v>
                </c:pt>
              </c:strCache>
            </c:strRef>
          </c:tx>
          <c:spPr>
            <a:solidFill>
              <a:srgbClr val="2E75B6"/>
            </a:solidFill>
            <a:ln w="25400" cap="flat">
              <a:solidFill>
                <a:srgbClr val="2E75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5B6"/>
              </a:solidFill>
              <a:ln w="9525" cap="flat">
                <a:solidFill>
                  <a:srgbClr val="2E75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2.1</c:v>
                </c:pt>
                <c:pt idx="1">
                  <c:v>3.2</c:v>
                </c:pt>
                <c:pt idx="2">
                  <c:v>4.8</c:v>
                </c:pt>
                <c:pt idx="3">
                  <c:v>6.3</c:v>
                </c:pt>
                <c:pt idx="4">
                  <c:v>8.9</c:v>
                </c:pt>
                <c:pt idx="5">
                  <c:v>11.2</c:v>
                </c:pt>
                <c:pt idx="6">
                  <c:v>13.7</c:v>
                </c:pt>
                <c:pt idx="7">
                  <c:v>14.1</c:v>
                </c:pt>
                <c:pt idx="8">
                  <c:v>11.2</c:v>
                </c:pt>
                <c:pt idx="9">
                  <c:v>7.8</c:v>
                </c:pt>
                <c:pt idx="10">
                  <c:v>4.6</c:v>
                </c:pt>
                <c:pt idx="11">
                  <c:v>2.4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2D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D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864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3864"/>
                </a:solidFill>
                <a:latin typeface="Arial"/>
              </a:rPr>
              <a:t>Monthly Avg Precipitation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Precipitation (mm)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8.5</c:v>
                </c:pt>
                <c:pt idx="1">
                  <c:v>7.2</c:v>
                </c:pt>
                <c:pt idx="2">
                  <c:v>6.1</c:v>
                </c:pt>
                <c:pt idx="3">
                  <c:v>4.3</c:v>
                </c:pt>
                <c:pt idx="4">
                  <c:v>3.2</c:v>
                </c:pt>
                <c:pt idx="5">
                  <c:v>1.8</c:v>
                </c:pt>
                <c:pt idx="6">
                  <c:v>0.9</c:v>
                </c:pt>
                <c:pt idx="7">
                  <c:v>0.7</c:v>
                </c:pt>
                <c:pt idx="8">
                  <c:v>2.6</c:v>
                </c:pt>
                <c:pt idx="9">
                  <c:v>5.4</c:v>
                </c:pt>
                <c:pt idx="10">
                  <c:v>8.8</c:v>
                </c:pt>
                <c:pt idx="11">
                  <c:v>9.2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2D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D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864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F3864"/>
                </a:solidFill>
                <a:latin typeface="Arial"/>
              </a:rPr>
              <a:t>CV vs Test Accuracy by Model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Accuracy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D2D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Logistic
Regression</c:v>
                  </c:pt>
                  <c:pt idx="1">
                    <c:v>KNN</c:v>
                  </c:pt>
                  <c:pt idx="2">
                    <c:v>SVM</c:v>
                  </c:pt>
                  <c:pt idx="3">
                    <c:v>Gradient
Boosting</c:v>
                  </c:pt>
                  <c:pt idx="4">
                    <c:v>Random
Forest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0.794</c:v>
                </c:pt>
                <c:pt idx="1">
                  <c:v>0.781</c:v>
                </c:pt>
                <c:pt idx="2">
                  <c:v>0.837</c:v>
                </c:pt>
                <c:pt idx="3">
                  <c:v>0.848</c:v>
                </c:pt>
                <c:pt idx="4">
                  <c:v>0.852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38A1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D2D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Logistic
Regression</c:v>
                  </c:pt>
                  <c:pt idx="1">
                    <c:v>KNN</c:v>
                  </c:pt>
                  <c:pt idx="2">
                    <c:v>SVM</c:v>
                  </c:pt>
                  <c:pt idx="3">
                    <c:v>Gradient
Boosting</c:v>
                  </c:pt>
                  <c:pt idx="4">
                    <c:v>Random
Forest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0.792</c:v>
                </c:pt>
                <c:pt idx="1">
                  <c:v>0.775</c:v>
                </c:pt>
                <c:pt idx="2">
                  <c:v>0.841</c:v>
                </c:pt>
                <c:pt idx="3">
                  <c:v>0.853</c:v>
                </c:pt>
                <c:pt idx="4">
                  <c:v>0.86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D2D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2D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7"/>
        </c:scaling>
        <c:delete val="0"/>
        <c:axPos val="l"/>
        <c:majorGridlines>
          <c:spPr>
            <a:ln w="6350" cap="flat">
              <a:solidFill>
                <a:srgbClr val="E8ED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864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3864"/>
                </a:solidFill>
                <a:latin typeface="Arial"/>
              </a:rPr>
              <a:t>F1 Score by Weather Class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5B6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90CAF9"/>
              </a:solidFill>
              <a:effectLst/>
            </c:spPr>
          </c:dPt>
          <c:dPt>
            <c:idx val="3"/>
            <c:bubble3D val="0"/>
            <c:spPr>
              <a:solidFill>
                <a:srgbClr val="888888"/>
              </a:solidFill>
              <a:effectLst/>
            </c:spPr>
          </c:dPt>
          <c:dPt>
            <c:idx val="4"/>
            <c:bubble3D val="0"/>
            <c:spPr>
              <a:solidFill>
                <a:srgbClr val="00897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Rain (0.91)</c:v>
                </c:pt>
                <c:pt idx="1">
                  <c:v>Sun (0.90)</c:v>
                </c:pt>
                <c:pt idx="2">
                  <c:v>Snow (0.77)</c:v>
                </c:pt>
                <c:pt idx="3">
                  <c:v>Fog (0.72)</c:v>
                </c:pt>
                <c:pt idx="4">
                  <c:v>Drizzle (0.54)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91</c:v>
                </c:pt>
                <c:pt idx="1">
                  <c:v>90</c:v>
                </c:pt>
                <c:pt idx="2">
                  <c:v>77</c:v>
                </c:pt>
                <c:pt idx="3">
                  <c:v>72</c:v>
                </c:pt>
                <c:pt idx="4">
                  <c:v>54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864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F3864"/>
                </a:solidFill>
                <a:latin typeface="Arial"/>
              </a:rPr>
              <a:t>Random Forest Feature Importances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Score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D2D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heavy_rain</c:v>
                  </c:pt>
                  <c:pt idx="1">
                    <c:v>high_wind</c:v>
                  </c:pt>
                  <c:pt idx="2">
                    <c:v>is_rainy_season</c:v>
                  </c:pt>
                  <c:pt idx="3">
                    <c:v>season</c:v>
                  </c:pt>
                  <c:pt idx="4">
                    <c:v>month</c:v>
                  </c:pt>
                  <c:pt idx="5">
                    <c:v>wind</c:v>
                  </c:pt>
                  <c:pt idx="6">
                    <c:v>temp_avg</c:v>
                  </c:pt>
                  <c:pt idx="7">
                    <c:v>temp_range</c:v>
                  </c:pt>
                  <c:pt idx="8">
                    <c:v>temp_min</c:v>
                  </c:pt>
                  <c:pt idx="9">
                    <c:v>precipitation</c:v>
                  </c:pt>
                  <c:pt idx="10">
                    <c:v>temp_max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0.045</c:v>
                </c:pt>
                <c:pt idx="1">
                  <c:v>0.052</c:v>
                </c:pt>
                <c:pt idx="2">
                  <c:v>0.061</c:v>
                </c:pt>
                <c:pt idx="3">
                  <c:v>0.075</c:v>
                </c:pt>
                <c:pt idx="4">
                  <c:v>0.089</c:v>
                </c:pt>
                <c:pt idx="5">
                  <c:v>0.096</c:v>
                </c:pt>
                <c:pt idx="6">
                  <c:v>0.098</c:v>
                </c:pt>
                <c:pt idx="7">
                  <c:v>0.102</c:v>
                </c:pt>
                <c:pt idx="8">
                  <c:v>0.108</c:v>
                </c:pt>
                <c:pt idx="9">
                  <c:v>0.131</c:v>
                </c:pt>
                <c:pt idx="10">
                  <c:v>0.143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D2D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2D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D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0"/>
            <a:ext cx="1097280" cy="640080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3840480"/>
            <a:ext cx="822960" cy="457200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" y="3474720"/>
            <a:ext cx="640080" cy="365760"/>
          </a:xfrm>
          <a:prstGeom prst="ellipse">
            <a:avLst/>
          </a:prstGeom>
          <a:solidFill>
            <a:srgbClr val="2E75B6">
              <a:alpha val="30000"/>
            </a:srgbClr>
          </a:solidFill>
          <a:ln w="12700">
            <a:solidFill>
              <a:srgbClr val="2E75B6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7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Seattle Weather Prediction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&amp; Multi-Class Classification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286000" y="3154680"/>
            <a:ext cx="4572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Name]  •  Enrollment: XXXXXXXXXX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657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 &amp; Engineering  |  [College Name]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977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[Supervisor Name]  •  Academic Year 2024–2025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6459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OF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108960" y="320040"/>
            <a:ext cx="41148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08960" y="3200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11880" y="33832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08960" y="822960"/>
            <a:ext cx="41148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8229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11880" y="84124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08960" y="1325880"/>
            <a:ext cx="41148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132588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11880" y="134416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108960" y="1828800"/>
            <a:ext cx="41148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182880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11880" y="184708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108960" y="2331720"/>
            <a:ext cx="41148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23317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11880" y="235000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108960" y="2834640"/>
            <a:ext cx="41148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28346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11880" y="285292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108960" y="3337560"/>
            <a:ext cx="41148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0" y="33375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11880" y="335584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108960" y="3840480"/>
            <a:ext cx="41148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0" y="384048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11880" y="385876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108960" y="4343400"/>
            <a:ext cx="41148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8960" y="434340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11880" y="436168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&amp; Motivation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73152" cy="1737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43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🌦  Why Weather Matters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affects agriculture, transport, aviation, disaster response, and daily life — making reliable prediction a high-stakes challenge with real economic impact.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51560"/>
            <a:ext cx="73152" cy="1737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143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ML as a Solution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55448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NWP models are expensive and compute-heavy. Machine learning learns patterns directly from historical data, offering a lightweight, data-driven alternative.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71800"/>
            <a:ext cx="73152" cy="1737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0632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  Seattle: Case Study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34747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Seattle's oceanic climate — with varied rain, fog, and sun patterns — makes it an ideal benchmark city for multi-class daily weather classification tasks.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46320" y="29718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971800"/>
            <a:ext cx="73152" cy="1737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30632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Project Goal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34747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compare, and deploy five ML classifiers to predict the daily weather type (drizzle/rain/fog/snow/sun) from meteorological sensor readings.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Dataset: Seattle Weather (2012–2015)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4747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Summary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554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920240" y="15544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1,461 days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2057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920240" y="20574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2012 – Dec 2015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2560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920240" y="25603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numerical input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3063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Classes: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920240" y="30632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weather types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1480" y="35661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Values: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920240" y="35661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1480" y="4069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(Train/Test):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920240" y="40690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/ 20%</a:t>
            </a:r>
            <a:endParaRPr lang="en-US" sz="115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3931920" y="1005840"/>
          <a:ext cx="49377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Data Analysis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51560"/>
          <a:ext cx="42976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1051560"/>
          <a:ext cx="41148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274320" y="31546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from EDA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274320" y="3566160"/>
            <a:ext cx="164592" cy="16459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02920" y="353872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 is right-skewed — median is 0.0 mm; over 50% of days have no rain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274320" y="3950208"/>
            <a:ext cx="164592" cy="16459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02920" y="3922776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 &amp; max temperature have strong negative correlation (r ≈ −0.72)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274320" y="4334256"/>
            <a:ext cx="164592" cy="16459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02920" y="430682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months (Jun–Sep) are dry and warm; Nov–Jan are cold and wet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274320" y="4718304"/>
            <a:ext cx="164592" cy="16459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02920" y="469087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 is rare (only 26 days) and confined to Dec–Feb; Drizzle occurs year-round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560320" cy="347472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51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Features (4)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2286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0876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103120"/>
            <a:ext cx="2286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10312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temp_max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697480"/>
            <a:ext cx="2286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6974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temp_min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291840"/>
            <a:ext cx="2286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29184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926080" y="2743200"/>
            <a:ext cx="64008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5786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3864"/>
                </a:solidFill>
              </a:rPr>
              <a:t>➤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840480" y="1005840"/>
            <a:ext cx="5029200" cy="3840480"/>
          </a:xfrm>
          <a:prstGeom prst="rect">
            <a:avLst/>
          </a:prstGeom>
          <a:solidFill>
            <a:srgbClr val="E8F5E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10515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 (7)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50208" y="1508760"/>
            <a:ext cx="4800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95928" y="1508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temp_range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77840" y="1508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temp_max − temp_min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950208" y="1975104"/>
            <a:ext cx="4800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95928" y="197510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temp_avg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77840" y="197510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(temp_max + temp_min) / 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950208" y="2441448"/>
            <a:ext cx="4800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95928" y="24414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77840" y="244144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month (1–12)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950208" y="2907792"/>
            <a:ext cx="4800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95928" y="290779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77840" y="290779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/ Spring / Summer / Fall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950208" y="3374136"/>
            <a:ext cx="4800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95928" y="337413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is_rainy_season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77840" y="337413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if month ∈ {Oct–Mar}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950208" y="3840480"/>
            <a:ext cx="4800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95928" y="38404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high_wind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577840" y="38404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if wind &gt; 75th percentile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950208" y="4306824"/>
            <a:ext cx="4800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95928" y="430682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heavy_rain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577840" y="430682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if precipitation &gt; 75th percentile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features used for training: 11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 Models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7160" y="1005840"/>
            <a:ext cx="1645920" cy="173736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" y="10515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" y="2148840"/>
            <a:ext cx="1645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" y="217627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/ Baseline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7160" y="28346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solver=lbfgs, max_iter=1000, L2 regularization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11096" y="1005840"/>
            <a:ext cx="1645920" cy="173736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11096" y="10515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911096" y="2148840"/>
            <a:ext cx="1645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11096" y="217627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(Bagging)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11096" y="28346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n_estimators=200, criterion=gini, max_features=sqrt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85032" y="1005840"/>
            <a:ext cx="1645920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85032" y="10515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85032" y="2148840"/>
            <a:ext cx="1645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85032" y="217627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(Boosting)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85032" y="28346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n_estimators=200, lr=0.1, max_depth=4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58968" y="1005840"/>
            <a:ext cx="1645920" cy="1737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58968" y="10515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58968" y="2148840"/>
            <a:ext cx="1645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58968" y="217627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Method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58968" y="28346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kernel=RBF, C=10, gamma=scale, probability=True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32904" y="1005840"/>
            <a:ext cx="1645920" cy="17373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32904" y="10515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232904" y="2148840"/>
            <a:ext cx="1645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32904" y="217627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Instance-Based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32904" y="28346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n_neighbors=7, weights=uniform, metric=euclidean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4114800"/>
            <a:ext cx="8595360" cy="82296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wrapped in scikit-learn Pipeline:  StandardScaler → Classifier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no data leakage during 5-fold Stratified Cross-Validation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Results – Model Comparison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5303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097280"/>
          <a:ext cx="32004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31520"/>
                <a:gridCol w="731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CV Acc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Test Acc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Logistic Regression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79.4%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79.2%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K-Nearest Neighbors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78.1%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77.5%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SVM (RBF)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83.7%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84.1%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Gradient Boosting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84.8%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85.3%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Random Forest 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85.2%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86.0%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760720" y="4389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Random Forest selected as best model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Model: Classification Report (Random Forest)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51560"/>
          <a:ext cx="39319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051560"/>
          <a:ext cx="45720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22960"/>
                <a:gridCol w="822960"/>
                <a:gridCol w="82296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Support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Drizzle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0.67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0.45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0.54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11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Fog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0.74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0.70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0.72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Rain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0.89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0.92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0.91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129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Snow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0.83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0.71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0.77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Sun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0.88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0.91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0.90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126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</a:rPr>
                        <a:t>Macro Avg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</a:rPr>
                        <a:t>0.80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</a:rPr>
                        <a:t>0.74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</a:rPr>
                        <a:t>0.77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</a:rPr>
                        <a:t>293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</a:rPr>
                        <a:t>Weighted Avg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</a:rPr>
                        <a:t>0.86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</a:rPr>
                        <a:t>0.86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</a:rPr>
                        <a:t>0.86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</a:rPr>
                        <a:t>293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389120" y="41605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Rain &amp; Sun (majority classes) perform excellently. Drizzle is most challenging due to meteorological overlap with Rain and Fog.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Importance Analysis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56692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12648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126480" y="1508760"/>
            <a:ext cx="27432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0" y="149047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temp_max: </a:t>
            </a:r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 — temperatures clearly separate sunny vs snowy days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126480" y="2167128"/>
            <a:ext cx="27432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0" y="21488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precipitation: </a:t>
            </a:r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— heavy rain strongly signals 'rain' or 'drizzle' classes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26480" y="2825496"/>
            <a:ext cx="27432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2240" y="280720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temp_min: </a:t>
            </a:r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— low minimums indicate snow or fog conditions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126480" y="3483864"/>
            <a:ext cx="27432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92240" y="346557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temp_range: </a:t>
            </a:r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range = clear sunny day; narrow = overcast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126480" y="4142232"/>
            <a:ext cx="27432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92240" y="412394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month/season: </a:t>
            </a:r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features add strong seasonal context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Application Interface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029200" cy="3840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5029200" cy="320040"/>
          </a:xfrm>
          <a:prstGeom prst="rect">
            <a:avLst/>
          </a:prstGeom>
          <a:solidFill>
            <a:srgbClr val="2E4070"/>
          </a:solidFill>
          <a:ln w="12700">
            <a:solidFill>
              <a:srgbClr val="2E40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 Seattle Weather Predictor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Seattle Weather Predictor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 (mm):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31720" y="2011680"/>
            <a:ext cx="219456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08960" y="194767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331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Temperature (°C):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31720" y="2423160"/>
            <a:ext cx="219456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0" y="235915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743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Temperature (°C):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331720" y="2834640"/>
            <a:ext cx="219456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08960" y="277063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1546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Speed (m/s):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331720" y="3246120"/>
            <a:ext cx="219456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08960" y="318211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566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Month: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331720" y="3657600"/>
            <a:ext cx="219456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08960" y="359359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88720" y="4023360"/>
            <a:ext cx="256032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8720" y="4023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Weather 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526280"/>
            <a:ext cx="4663440" cy="25603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52628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☀ SUN  (Confidence: 87%)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32120" y="105156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532120" y="1508760"/>
            <a:ext cx="182880" cy="1828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79008" y="148132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HTML5, CSS3, JavaScript — no server needed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532120" y="2011680"/>
            <a:ext cx="182880" cy="1828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79008" y="198424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sliders for all 4 meteorological inputs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532120" y="2514600"/>
            <a:ext cx="182880" cy="1828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79008" y="248716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&amp; model selector (all 5 classifiers)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532120" y="3017520"/>
            <a:ext cx="182880" cy="1828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79008" y="299008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weather icon matching the prediction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532120" y="3520440"/>
            <a:ext cx="182880" cy="1828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79008" y="349300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bar chart across all 5 classes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532120" y="4023360"/>
            <a:ext cx="182880" cy="1828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79008" y="399592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— works on desktop and mobile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&amp;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2880" y="1188720"/>
            <a:ext cx="1097280" cy="109728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1188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(1461 rows)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280160" y="1737360"/>
            <a:ext cx="146304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62763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</a:rPr>
              <a:t>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26464" y="1188720"/>
            <a:ext cx="1097280" cy="10972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426464" y="1188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23744" y="1737360"/>
            <a:ext cx="146304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15184" y="162763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</a:rPr>
              <a:t>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70048" y="1188720"/>
            <a:ext cx="1097280" cy="10972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70048" y="1188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 features)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67328" y="1737360"/>
            <a:ext cx="146304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58768" y="162763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13632" y="1188720"/>
            <a:ext cx="109728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913632" y="1188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(80/20)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10912" y="1737360"/>
            <a:ext cx="146304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02352" y="162763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57216" y="1188720"/>
            <a:ext cx="1097280" cy="109728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157216" y="1188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+ Model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54496" y="1737360"/>
            <a:ext cx="146304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5936" y="162763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1188720"/>
            <a:ext cx="1097280" cy="10972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0" y="1188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+ Test Acc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98080" y="1737360"/>
            <a:ext cx="146304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0" y="162763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</a:rPr>
              <a:t>▶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644384" y="1188720"/>
            <a:ext cx="1097280" cy="10972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644384" y="1188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Web UI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" y="25146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Methodology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74320" y="2926080"/>
            <a:ext cx="8595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3108960"/>
            <a:ext cx="150876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10896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121408" y="3108960"/>
            <a:ext cx="1508760" cy="91440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21408" y="310896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(Train)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785616" y="3108960"/>
            <a:ext cx="1508760" cy="91440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85616" y="310896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(Train)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49824" y="3108960"/>
            <a:ext cx="1508760" cy="91440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49824" y="310896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(Train)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114032" y="3108960"/>
            <a:ext cx="1508760" cy="91440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14032" y="310896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(Train)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65760" y="41148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Cross-Validation ensures class proportions are maintained in each fold (no data leakage)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182880" cy="18288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57276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achieved 86.0% test accuracy — best among 5 models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182880" cy="18288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07568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 outperform linear and distance-based approaches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606040"/>
            <a:ext cx="182880" cy="18288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57860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temp_max is the most important feature; precipitation ranks 2nd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108960"/>
            <a:ext cx="182880" cy="18288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08152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Drizzle is the hardest class to predict due to meteorological overlap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611880"/>
            <a:ext cx="182880" cy="18288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5844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boosted performance from baseline 4 to 11 features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114800"/>
            <a:ext cx="182880" cy="18288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408736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overfitting — CV and test accuracy are closely aligned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160020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157276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humidity, pressure, cloud cover features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10312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207568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LSTM / GRU for time-series forecasting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6060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257860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multiple cities (generalization)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10896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308152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via OpenWeatherMap API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61188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10912" y="35844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(Flask + Docker + AWS)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411480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408736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 prediction for uncertainty bounds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1371600" cy="822960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3474720"/>
            <a:ext cx="1005840" cy="548640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0" y="3154680"/>
            <a:ext cx="36576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91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Name]  •  [Enrollment No.]  •  [Department]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[College Name]  •  Academic Year 2024–2025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977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[Supervisor Name], [Designation]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Seattle Weather Prediction Using Machine Learning</dc:title>
  <dc:subject>PptxGenJS Presentation</dc:subject>
  <dc:creator>Student</dc:creator>
  <cp:lastModifiedBy>Student</cp:lastModifiedBy>
  <cp:revision>1</cp:revision>
  <dcterms:created xsi:type="dcterms:W3CDTF">2026-03-25T21:49:22Z</dcterms:created>
  <dcterms:modified xsi:type="dcterms:W3CDTF">2026-03-25T21:49:22Z</dcterms:modified>
</cp:coreProperties>
</file>